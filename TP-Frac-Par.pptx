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7" r:id="rId21"/>
    <p:sldId id="276" r:id="rId22"/>
    <p:sldId id="278" r:id="rId23"/>
    <p:sldId id="280" r:id="rId24"/>
    <p:sldId id="283" r:id="rId25"/>
    <p:sldId id="284" r:id="rId26"/>
    <p:sldId id="282" r:id="rId27"/>
    <p:sldId id="281" r:id="rId28"/>
    <p:sldId id="285" r:id="rId29"/>
    <p:sldId id="286" r:id="rId30"/>
    <p:sldId id="287" r:id="rId31"/>
    <p:sldId id="288" r:id="rId32"/>
    <p:sldId id="289" r:id="rId33"/>
    <p:sldId id="290" r:id="rId34"/>
    <p:sldId id="292" r:id="rId35"/>
    <p:sldId id="294" r:id="rId36"/>
    <p:sldId id="293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6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0217-7573-F3DE-124C-A0CF25B25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7F62E-CAD5-30B4-20C4-3523684C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F3F64-06D6-462C-6B3E-84C9A0B21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A421-2868-43CF-81AA-46131D875B58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6152C-DE3A-CFEB-ECB0-020BAB315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32508-D215-EDE6-77C8-2B3AD695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A84F-A38C-42C8-8809-6042170079F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976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F295-EAC6-E965-FA96-C940B918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FF3D6-318C-6850-6F23-BD68DA96B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1151F-D3CA-10FC-66AB-911C0B694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A421-2868-43CF-81AA-46131D875B58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E9D7A-3BBB-96AC-7401-3BC65FCE1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30F85-CB49-8292-C38F-A776764BD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A84F-A38C-42C8-8809-6042170079F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163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37221-9C65-BCA4-5C36-70AB560F9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A223E-A115-C10C-D456-613C842B6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F4A07-6840-214F-58F9-DDEA8C0FF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A421-2868-43CF-81AA-46131D875B58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A5098-2553-B6D3-DBDC-0B10354D9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A1F78-1E38-323A-66D3-947C16756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A84F-A38C-42C8-8809-6042170079F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4425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558BB-4083-9916-D042-4F2613741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9156C-D40D-27A6-4340-D51339C9D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EC85F-0AE2-5ADA-1AA8-DB480F059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732EE-B527-1CA8-8416-777B688F4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A421-2868-43CF-81AA-46131D875B58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687B4-CD1E-A9CF-D61C-0135C7D52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9D41F-4B25-76A3-F588-38C4BAAE0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A84F-A38C-42C8-8809-6042170079F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3134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4050C-8AB9-1BF4-C246-A3D2CF37C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A744-86EE-77CD-B0BA-F767FAAFA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AD65B4-BD68-362D-D16A-DCB131BAE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EF0FC6-2B4D-AE85-6792-05315D3226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52ED73-C4FD-CBD3-2B80-CF42B7877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CD9F01-FC0E-3B38-21ED-A0FE8B7F7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A421-2868-43CF-81AA-46131D875B58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C3C9DA-A757-0134-867F-BDEA3723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2E9FD-B8C7-FE69-31C2-5DE1516B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A84F-A38C-42C8-8809-6042170079F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265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D4FC1-879E-B3A6-92DC-911BAE69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40132A-9DB9-77FA-BCE3-5FED251E0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A421-2868-43CF-81AA-46131D875B58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D0C0E-7CD9-DBA5-3AC1-D292481E1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DB872-F525-B56D-7633-7C2D9696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A84F-A38C-42C8-8809-6042170079F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543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DFEA7E-40C8-7B02-05FD-216FCA2D2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A421-2868-43CF-81AA-46131D875B58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B96EDB-BFEB-0525-0802-6E68709E5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C10F0-2FB2-F328-4EA6-F500F99D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A84F-A38C-42C8-8809-6042170079F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84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87AE8-14EF-09C7-0A07-1FE4BAE6E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C9F29-99D5-0E3B-A1B8-8422DF48F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38D3F-417F-00F4-D7AE-423E2EC90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D850D-0D19-A58F-BE33-9B9CF386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A421-2868-43CF-81AA-46131D875B58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2E21A-0FB3-D282-003F-E04ABE65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EACF2-1AD8-3C85-94D3-DDC29A662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A84F-A38C-42C8-8809-6042170079F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8312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DA82-B07C-111D-1792-013AFCD5A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FA06F-6039-5328-A287-BBD5F442A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DA635-E647-4B0F-B6D4-93EE9A12E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4716F-B625-CD2A-9F1E-8A5F22631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A421-2868-43CF-81AA-46131D875B58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D4348-9CBE-33D5-D36E-E2D4EDF28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1DA5B-6705-F07E-2AA2-1A86A76F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A84F-A38C-42C8-8809-6042170079F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9189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A71A1-6AF4-513B-96CC-BB09DF1F8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983E8-98D5-F368-14F0-68FC86F15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8A69B-B8EF-6E65-E569-2E7F178B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A421-2868-43CF-81AA-46131D875B58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123C7-D0BA-7B3B-7D00-BB77756B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9FF47-688D-8C45-8659-DD4D70999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A84F-A38C-42C8-8809-6042170079F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5796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BC1D68-3BB9-68A9-7996-AD6FEE957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ADC63-BF3E-C853-7E76-A3EAECE07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03C65-C0AB-9276-28F5-1AB059CA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CA421-2868-43CF-81AA-46131D875B58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6F689-2B51-1E22-79BF-56CF3BE2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813D1-49FB-2C00-A6FC-7099DA421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2A84F-A38C-42C8-8809-6042170079F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6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BEE926-60C3-EC2D-2D91-979A94BA8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886CA-DD33-C494-B20D-B199B516C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40170-9D01-5B75-B7F7-AB915D53A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CA421-2868-43CF-81AA-46131D875B58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31200-8D8A-C6B2-ED83-B6435660C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460B3-C9EC-BE31-D8C9-F9B957C34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2A84F-A38C-42C8-8809-6042170079F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7880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github.com/marcosware/tp-frac-pa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BD2FEC-AFC2-D6F2-7907-C703715DE748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Trabalho Prático II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23B2A-5644-6D78-2EF9-B11CCAC63EA5}"/>
              </a:ext>
            </a:extLst>
          </p:cNvPr>
          <p:cNvSpPr txBox="1"/>
          <p:nvPr/>
        </p:nvSpPr>
        <p:spPr>
          <a:xfrm>
            <a:off x="1663633" y="1674674"/>
            <a:ext cx="88647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5400" dirty="0"/>
              <a:t>Integração por Frações Parciais</a:t>
            </a:r>
          </a:p>
          <a:p>
            <a:pPr algn="ctr"/>
            <a:r>
              <a:rPr lang="pt-BR" sz="3600" dirty="0"/>
              <a:t>Cálculo Integral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F388AD-4D55-AE83-4300-02D14BB0006D}"/>
              </a:ext>
            </a:extLst>
          </p:cNvPr>
          <p:cNvSpPr txBox="1"/>
          <p:nvPr/>
        </p:nvSpPr>
        <p:spPr>
          <a:xfrm>
            <a:off x="4383672" y="3429000"/>
            <a:ext cx="342465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Integrantes:</a:t>
            </a:r>
            <a:br>
              <a:rPr lang="pt-BR" dirty="0"/>
            </a:br>
            <a:r>
              <a:rPr lang="pt-BR" altLang="pt-BR" dirty="0"/>
              <a:t>Diego Henrique Xavier dos Santos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/>
              <a:t>Eduardo Henrique Aniceto Teixeira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/>
              <a:t>Lucas Vinícius Pedroso Pereira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/>
              <a:t>Marcos Vinícius Nunes Reis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/>
              <a:t>Vitor Daniel Silva Melo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5537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67643-1E02-EBEC-96AE-9BB713C32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A61154-75F8-42A2-C68A-A3C95E74030C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Índice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E9AFD5-65C0-65FD-DE0A-750584817BA8}"/>
              </a:ext>
            </a:extLst>
          </p:cNvPr>
          <p:cNvSpPr txBox="1"/>
          <p:nvPr/>
        </p:nvSpPr>
        <p:spPr>
          <a:xfrm>
            <a:off x="758758" y="1585609"/>
            <a:ext cx="687136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2800" dirty="0"/>
              <a:t>Representação Computacional</a:t>
            </a:r>
          </a:p>
          <a:p>
            <a:pPr marL="342900" indent="-342900">
              <a:buFont typeface="+mj-lt"/>
              <a:buAutoNum type="arabicPeriod"/>
            </a:pPr>
            <a:endParaRPr lang="pt-BR" sz="2800" dirty="0"/>
          </a:p>
          <a:p>
            <a:pPr marL="342900" indent="-342900">
              <a:buFont typeface="+mj-lt"/>
              <a:buAutoNum type="arabicPeriod"/>
            </a:pPr>
            <a:r>
              <a:rPr lang="pt-BR" sz="2800" dirty="0"/>
              <a:t>Principais Algoritmos e Estruturas de Dados</a:t>
            </a:r>
          </a:p>
          <a:p>
            <a:pPr marL="342900" indent="-342900">
              <a:buFont typeface="+mj-lt"/>
              <a:buAutoNum type="arabicPeriod"/>
            </a:pPr>
            <a:endParaRPr lang="pt-BR" sz="2800" dirty="0"/>
          </a:p>
          <a:p>
            <a:pPr marL="342900" indent="-342900">
              <a:buFont typeface="+mj-lt"/>
              <a:buAutoNum type="arabicPeriod"/>
            </a:pPr>
            <a:r>
              <a:rPr lang="pt-BR" sz="2800" dirty="0"/>
              <a:t>Resultados das Integrais</a:t>
            </a:r>
          </a:p>
          <a:p>
            <a:pPr marL="342900" indent="-342900">
              <a:buFont typeface="+mj-lt"/>
              <a:buAutoNum type="arabicPeriod"/>
            </a:pPr>
            <a:endParaRPr lang="pt-BR" sz="2800" dirty="0"/>
          </a:p>
          <a:p>
            <a:pPr marL="342900" indent="-342900">
              <a:buFont typeface="+mj-lt"/>
              <a:buAutoNum type="arabicPeriod"/>
            </a:pPr>
            <a:r>
              <a:rPr lang="pt-BR" sz="2800" dirty="0"/>
              <a:t>Possíveis Limitações e Melhorias</a:t>
            </a:r>
          </a:p>
          <a:p>
            <a:pPr marL="342900" indent="-342900">
              <a:buFont typeface="+mj-lt"/>
              <a:buAutoNum type="arabicPeriod"/>
            </a:pPr>
            <a:endParaRPr lang="pt-BR" sz="2800" dirty="0"/>
          </a:p>
          <a:p>
            <a:pPr marL="342900" indent="-342900">
              <a:buFont typeface="+mj-lt"/>
              <a:buAutoNum type="arabicPeriod"/>
            </a:pPr>
            <a:r>
              <a:rPr lang="pt-BR" sz="2800" dirty="0"/>
              <a:t>Repositório</a:t>
            </a:r>
          </a:p>
        </p:txBody>
      </p:sp>
    </p:spTree>
    <p:extLst>
      <p:ext uri="{BB962C8B-B14F-4D97-AF65-F5344CB8AC3E}">
        <p14:creationId xmlns:p14="http://schemas.microsoft.com/office/powerpoint/2010/main" val="330318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32376-1064-D689-0AD3-C4B0BA4C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8AEF21-E13F-BF2F-B9DA-043BF439B165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E2AE9E-0C06-CFD1-55AD-793380D80C11}"/>
              </a:ext>
            </a:extLst>
          </p:cNvPr>
          <p:cNvSpPr txBox="1"/>
          <p:nvPr/>
        </p:nvSpPr>
        <p:spPr>
          <a:xfrm>
            <a:off x="739302" y="1322962"/>
            <a:ext cx="2591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Linear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45F4A-D3C2-23A1-318E-1136685DC1E9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27EA58-3E3B-1693-594F-2F7CB4A4F586}"/>
                  </a:ext>
                </a:extLst>
              </p:cNvPr>
              <p:cNvSpPr txBox="1"/>
              <p:nvPr/>
            </p:nvSpPr>
            <p:spPr>
              <a:xfrm>
                <a:off x="2034913" y="2073446"/>
                <a:ext cx="8127866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27EA58-3E3B-1693-594F-2F7CB4A4F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913" y="2073446"/>
                <a:ext cx="8127866" cy="1453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355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CFAF4-E99A-839D-E84E-69C7EAAC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FA348F7-D34B-98E9-256E-DB995AA31CDF}"/>
              </a:ext>
            </a:extLst>
          </p:cNvPr>
          <p:cNvSpPr/>
          <p:nvPr/>
        </p:nvSpPr>
        <p:spPr>
          <a:xfrm>
            <a:off x="2031522" y="2160174"/>
            <a:ext cx="486319" cy="115214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514B07-E3D8-D557-0309-CCA8BB9B2AA3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114FD-0845-246A-C9AC-A7C91A621882}"/>
              </a:ext>
            </a:extLst>
          </p:cNvPr>
          <p:cNvSpPr txBox="1"/>
          <p:nvPr/>
        </p:nvSpPr>
        <p:spPr>
          <a:xfrm>
            <a:off x="739302" y="1322962"/>
            <a:ext cx="2591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Linear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561C2-C46B-F671-5B3E-5C06E47C076E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EE942E-F8E3-6F14-0517-5C2E98701805}"/>
              </a:ext>
            </a:extLst>
          </p:cNvPr>
          <p:cNvSpPr txBox="1"/>
          <p:nvPr/>
        </p:nvSpPr>
        <p:spPr>
          <a:xfrm>
            <a:off x="5642149" y="292909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pt-BR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C6A527-2362-0745-CBD2-DF17751C0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4075123"/>
            <a:ext cx="8963025" cy="762000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C4CD9FF-D71A-71E7-8F45-61FF1A9AD2D3}"/>
                  </a:ext>
                </a:extLst>
              </p:cNvPr>
              <p:cNvSpPr txBox="1"/>
              <p:nvPr/>
            </p:nvSpPr>
            <p:spPr>
              <a:xfrm>
                <a:off x="2034913" y="2073446"/>
                <a:ext cx="8127866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C4CD9FF-D71A-71E7-8F45-61FF1A9AD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913" y="2073446"/>
                <a:ext cx="8127866" cy="1453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790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CBF12-3B90-35D9-67FB-911DB89E7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BA660F-7696-F3F5-6E88-B92DA01B30CD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D37D35-1712-F0CA-AC0B-9D63696935C8}"/>
                  </a:ext>
                </a:extLst>
              </p:cNvPr>
              <p:cNvSpPr txBox="1"/>
              <p:nvPr/>
            </p:nvSpPr>
            <p:spPr>
              <a:xfrm>
                <a:off x="2034913" y="2073446"/>
                <a:ext cx="8127866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3600" b="0" i="1" smtClean="0">
                                          <a:highlight>
                                            <a:srgbClr val="FFFF00"/>
                                          </a:highligh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b="0" i="1" smtClean="0">
                                          <a:highlight>
                                            <a:srgbClr val="FFFF00"/>
                                          </a:highlight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3600" b="0" i="1" smtClean="0">
                                          <a:highlight>
                                            <a:srgbClr val="FFFF00"/>
                                          </a:highlight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D37D35-1712-F0CA-AC0B-9D6369693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913" y="2073446"/>
                <a:ext cx="8127866" cy="1453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0E6FCEB-9F19-45F7-54CC-35BBABB00B43}"/>
              </a:ext>
            </a:extLst>
          </p:cNvPr>
          <p:cNvSpPr txBox="1"/>
          <p:nvPr/>
        </p:nvSpPr>
        <p:spPr>
          <a:xfrm>
            <a:off x="739302" y="1322962"/>
            <a:ext cx="2591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Linear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7BBDB-33BA-DD88-BA30-89F5AF30F269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C75DD8-63C8-16F9-E9AA-EA7EB9868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525" y="3753800"/>
            <a:ext cx="6076950" cy="2400300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93349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F54B3-6381-6C46-8D85-C72EC8E2D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DC0D9D-B2DA-0551-FC6E-6D1C87AF4BC5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1F838-F5E7-96D3-BD3B-193FBD1D5658}"/>
              </a:ext>
            </a:extLst>
          </p:cNvPr>
          <p:cNvSpPr txBox="1"/>
          <p:nvPr/>
        </p:nvSpPr>
        <p:spPr>
          <a:xfrm>
            <a:off x="739302" y="1322962"/>
            <a:ext cx="2591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Linear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3525D-849E-AFA9-BE6A-6A877B0FF3BB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EBCD55-0FD9-CB8F-47E4-AE0EDDFFEDA4}"/>
                  </a:ext>
                </a:extLst>
              </p:cNvPr>
              <p:cNvSpPr txBox="1"/>
              <p:nvPr/>
            </p:nvSpPr>
            <p:spPr>
              <a:xfrm>
                <a:off x="2032067" y="2073446"/>
                <a:ext cx="8127866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EBCD55-0FD9-CB8F-47E4-AE0EDDFFE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67" y="2073446"/>
                <a:ext cx="8127866" cy="1453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6BAD241-0D6C-A9D7-6754-D9C85497E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222" y="3526536"/>
            <a:ext cx="7735556" cy="3110380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4290682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83A27-26E5-4DE5-CBFB-56664760F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B9683-A526-819C-0F35-E93E16893B47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F10F6-CC74-2F8C-C706-00FB56F2A5BD}"/>
              </a:ext>
            </a:extLst>
          </p:cNvPr>
          <p:cNvSpPr txBox="1"/>
          <p:nvPr/>
        </p:nvSpPr>
        <p:spPr>
          <a:xfrm>
            <a:off x="739302" y="1322962"/>
            <a:ext cx="2591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Linear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2C345-1686-FF59-51C9-FD0111812D17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B103AF5-1818-D184-6F17-96CB28C52FA0}"/>
                  </a:ext>
                </a:extLst>
              </p:cNvPr>
              <p:cNvSpPr txBox="1"/>
              <p:nvPr/>
            </p:nvSpPr>
            <p:spPr>
              <a:xfrm>
                <a:off x="2034913" y="2073446"/>
                <a:ext cx="8127866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3600" b="0" i="1" smtClean="0">
                                          <a:highlight>
                                            <a:srgbClr val="FFFF00"/>
                                          </a:highligh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b="0" i="1" smtClean="0">
                                          <a:highlight>
                                            <a:srgbClr val="FFFF00"/>
                                          </a:highlight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3600" b="0" i="1" smtClean="0">
                                          <a:highlight>
                                            <a:srgbClr val="FFFF00"/>
                                          </a:highlight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B103AF5-1818-D184-6F17-96CB28C52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4913" y="2073446"/>
                <a:ext cx="8127866" cy="1453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3CF8D45-DBCA-8860-DEC3-C80305CA7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63" y="3753800"/>
            <a:ext cx="10116273" cy="2359084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1818575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26CC6-EFE7-A61B-F3C6-BBD80D124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B3C56E-8CE4-EFF7-009D-FF4B61C70CAE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F1CD3-4BAD-FC46-22FE-745DF23C85C7}"/>
              </a:ext>
            </a:extLst>
          </p:cNvPr>
          <p:cNvSpPr txBox="1"/>
          <p:nvPr/>
        </p:nvSpPr>
        <p:spPr>
          <a:xfrm>
            <a:off x="739302" y="1322962"/>
            <a:ext cx="2591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Linear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93C29C-7EC3-F93E-508B-392E5066FED8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F81034-FC22-7D60-D7F7-99B42A8D4C47}"/>
                  </a:ext>
                </a:extLst>
              </p:cNvPr>
              <p:cNvSpPr txBox="1"/>
              <p:nvPr/>
            </p:nvSpPr>
            <p:spPr>
              <a:xfrm>
                <a:off x="2032067" y="2073446"/>
                <a:ext cx="8127866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F81034-FC22-7D60-D7F7-99B42A8D4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67" y="2073446"/>
                <a:ext cx="8127866" cy="1453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9857BA8-4AE0-8158-C8D1-E866D13BC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753800"/>
            <a:ext cx="10477500" cy="2800350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961920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B29E-A5AB-33CB-EFA7-B2850CB1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73CCB1-E0FE-3EB2-58FD-B5118DF06994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E4C29-E59D-0FAB-3C01-5DE116CCA50A}"/>
              </a:ext>
            </a:extLst>
          </p:cNvPr>
          <p:cNvSpPr txBox="1"/>
          <p:nvPr/>
        </p:nvSpPr>
        <p:spPr>
          <a:xfrm>
            <a:off x="739302" y="1322962"/>
            <a:ext cx="3295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Quadrática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61FC5-2119-1DF0-CC65-B7A83E1FE430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F5A902-97E3-8DA1-807B-7F06F9A22B82}"/>
                  </a:ext>
                </a:extLst>
              </p:cNvPr>
              <p:cNvSpPr txBox="1"/>
              <p:nvPr/>
            </p:nvSpPr>
            <p:spPr>
              <a:xfrm>
                <a:off x="2387157" y="2073446"/>
                <a:ext cx="7428187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𝑏𝑥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F5A902-97E3-8DA1-807B-7F06F9A22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157" y="2073446"/>
                <a:ext cx="7428187" cy="1453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236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D6655-D881-3989-1151-ED37C6FF5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5129C6-4993-FDFD-32BA-BD7FB40BCC8F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50FDD3-059C-0134-9F76-066CD10B7FB2}"/>
              </a:ext>
            </a:extLst>
          </p:cNvPr>
          <p:cNvSpPr txBox="1"/>
          <p:nvPr/>
        </p:nvSpPr>
        <p:spPr>
          <a:xfrm>
            <a:off x="739302" y="1322962"/>
            <a:ext cx="3295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Quadrática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21207-15D9-8058-4CB6-8513B8855BBB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7928C0-2AA8-C4C4-6E95-E968562AAFE7}"/>
                  </a:ext>
                </a:extLst>
              </p:cNvPr>
              <p:cNvSpPr txBox="1"/>
              <p:nvPr/>
            </p:nvSpPr>
            <p:spPr>
              <a:xfrm>
                <a:off x="2387157" y="2073446"/>
                <a:ext cx="7428187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7928C0-2AA8-C4C4-6E95-E968562AA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7157" y="2073446"/>
                <a:ext cx="7428187" cy="1453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C5928D9-EFE5-D11C-34DC-F3571B2C0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196" y="3630708"/>
            <a:ext cx="5543607" cy="3102880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103591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847FD-5400-060E-F3C1-AC1BB295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584BC0-0465-5805-4544-E868D19D8BED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3D9816-9CC2-CC94-4BDC-C9C2315FA656}"/>
              </a:ext>
            </a:extLst>
          </p:cNvPr>
          <p:cNvSpPr txBox="1"/>
          <p:nvPr/>
        </p:nvSpPr>
        <p:spPr>
          <a:xfrm>
            <a:off x="739302" y="1322962"/>
            <a:ext cx="3295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Quadrática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083D29-DB8C-5BC6-3C6C-43CA30011AA4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FAE120-0B7C-17BB-718D-5C4FCF495662}"/>
                  </a:ext>
                </a:extLst>
              </p:cNvPr>
              <p:cNvSpPr txBox="1"/>
              <p:nvPr/>
            </p:nvSpPr>
            <p:spPr>
              <a:xfrm>
                <a:off x="2381906" y="2073446"/>
                <a:ext cx="7428187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𝑏𝑥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FAE120-0B7C-17BB-718D-5C4FCF495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906" y="2073446"/>
                <a:ext cx="7428187" cy="1453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E87FBD9-32FA-696E-CD3F-D95979C49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562" y="3526536"/>
            <a:ext cx="8194876" cy="3135123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3187373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D8B40-0E5E-8313-B779-361CF0EDC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2CAEBA-4BA0-D32E-638A-CF70E33C3A3F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23AA1-19B0-BF80-F4FD-F4248D0BD0AB}"/>
              </a:ext>
            </a:extLst>
          </p:cNvPr>
          <p:cNvSpPr txBox="1"/>
          <p:nvPr/>
        </p:nvSpPr>
        <p:spPr>
          <a:xfrm>
            <a:off x="739302" y="1322962"/>
            <a:ext cx="3295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Quadrática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677D84-E975-A314-5EC5-55B2B7CAE7A5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881F734-2890-26E3-DFAA-E415D27AE024}"/>
                  </a:ext>
                </a:extLst>
              </p:cNvPr>
              <p:cNvSpPr txBox="1"/>
              <p:nvPr/>
            </p:nvSpPr>
            <p:spPr>
              <a:xfrm>
                <a:off x="2381906" y="2073446"/>
                <a:ext cx="7428187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𝑏𝑥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881F734-2890-26E3-DFAA-E415D27AE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906" y="2073446"/>
                <a:ext cx="7428187" cy="1453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BCE6A1A-8022-A20B-86CE-1DC573B0B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904" y="3797093"/>
            <a:ext cx="9902191" cy="2612630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1571425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C4847-63EB-4B67-2EC9-280609C66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E25FE4-E15D-0187-DE40-A20D58EEA36D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0FCC4-25B7-4815-CC51-699A6507228E}"/>
              </a:ext>
            </a:extLst>
          </p:cNvPr>
          <p:cNvSpPr txBox="1"/>
          <p:nvPr/>
        </p:nvSpPr>
        <p:spPr>
          <a:xfrm>
            <a:off x="739302" y="1322962"/>
            <a:ext cx="3295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Quadrática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FFC1D-CE08-74F3-4983-BBE2B8C497B5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6C5BBF-C2D3-BF78-A497-F64D48079062}"/>
                  </a:ext>
                </a:extLst>
              </p:cNvPr>
              <p:cNvSpPr txBox="1"/>
              <p:nvPr/>
            </p:nvSpPr>
            <p:spPr>
              <a:xfrm>
                <a:off x="2381906" y="2073446"/>
                <a:ext cx="7428187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𝑏𝑥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6C5BBF-C2D3-BF78-A497-F64D48079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906" y="2073446"/>
                <a:ext cx="7428187" cy="1453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D16F7D8-648F-77EB-0857-89372B5CD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332" y="3429000"/>
            <a:ext cx="8079334" cy="323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71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AC069-BA43-C2E3-9205-33F9D880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F30256-270B-99B1-73FA-1532A4578623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388531-B1FB-B1A7-2E7E-A365363C6333}"/>
              </a:ext>
            </a:extLst>
          </p:cNvPr>
          <p:cNvSpPr txBox="1"/>
          <p:nvPr/>
        </p:nvSpPr>
        <p:spPr>
          <a:xfrm>
            <a:off x="739302" y="1322962"/>
            <a:ext cx="2509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Mista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6BB52E-21B1-5590-BA0F-49DB08517765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4B547B-DB81-D29C-CDC5-35B90DC7CEC8}"/>
                  </a:ext>
                </a:extLst>
              </p:cNvPr>
              <p:cNvSpPr txBox="1"/>
              <p:nvPr/>
            </p:nvSpPr>
            <p:spPr>
              <a:xfrm>
                <a:off x="1657733" y="2143550"/>
                <a:ext cx="9145772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𝐸𝑥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4B547B-DB81-D29C-CDC5-35B90DC7C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733" y="2143550"/>
                <a:ext cx="9145772" cy="1453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344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C5558-E63A-24FA-68DA-8C0C7B3D3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51F859-F167-4195-EDD2-21023148AC2B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897B40-00F4-B6FB-C24D-C0BFC551B066}"/>
              </a:ext>
            </a:extLst>
          </p:cNvPr>
          <p:cNvSpPr txBox="1"/>
          <p:nvPr/>
        </p:nvSpPr>
        <p:spPr>
          <a:xfrm>
            <a:off x="739302" y="1322962"/>
            <a:ext cx="2509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Mista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BBC698-C00C-F883-9A3B-706420277AA5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76D96A-0DA8-8BA0-F647-712956466255}"/>
                  </a:ext>
                </a:extLst>
              </p:cNvPr>
              <p:cNvSpPr txBox="1"/>
              <p:nvPr/>
            </p:nvSpPr>
            <p:spPr>
              <a:xfrm>
                <a:off x="1657733" y="2143550"/>
                <a:ext cx="9145772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sz="3600" b="0" i="1" smtClean="0">
                                          <a:highlight>
                                            <a:srgbClr val="FFFF00"/>
                                          </a:highligh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b="0" i="1" smtClean="0">
                                          <a:highlight>
                                            <a:srgbClr val="FFFF00"/>
                                          </a:highlight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3600" b="0" i="1" smtClean="0">
                                          <a:highlight>
                                            <a:srgbClr val="FFFF00"/>
                                          </a:highlight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76D96A-0DA8-8BA0-F647-712956466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733" y="2143550"/>
                <a:ext cx="9145772" cy="1453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624A5AF-5A2D-CECA-77B1-6AF5CCBEF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462" y="4155545"/>
            <a:ext cx="7839075" cy="1419225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3765391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E4F37-7C9F-D559-7544-9E370420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4D10B9-F9A4-EFA1-9E79-9977C2DCE835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7F5D7-E5FB-D1EA-076B-A13E4EF672CC}"/>
              </a:ext>
            </a:extLst>
          </p:cNvPr>
          <p:cNvSpPr txBox="1"/>
          <p:nvPr/>
        </p:nvSpPr>
        <p:spPr>
          <a:xfrm>
            <a:off x="739302" y="1322962"/>
            <a:ext cx="2509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Mista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D4ECDC-D4C9-24B7-A098-F8BC419B5D72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D9550B-9580-CB79-AF01-1E74E1389619}"/>
                  </a:ext>
                </a:extLst>
              </p:cNvPr>
              <p:cNvSpPr txBox="1"/>
              <p:nvPr/>
            </p:nvSpPr>
            <p:spPr>
              <a:xfrm>
                <a:off x="1657733" y="2143550"/>
                <a:ext cx="9145772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𝐶𝑥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𝐸𝑥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D9550B-9580-CB79-AF01-1E74E1389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733" y="2143550"/>
                <a:ext cx="9145772" cy="1453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86C9424-83B9-64C3-8EFD-3B42E863C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629" y="3596640"/>
            <a:ext cx="6682741" cy="3103903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180178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E4DED-EE3A-39F2-E72E-EED94BC8C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BE87BC-EECA-0A52-D4BB-2F5F743A6F01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Representação Computacional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344F2-4798-8F02-7470-6566651CE096}"/>
              </a:ext>
            </a:extLst>
          </p:cNvPr>
          <p:cNvSpPr txBox="1"/>
          <p:nvPr/>
        </p:nvSpPr>
        <p:spPr>
          <a:xfrm>
            <a:off x="739302" y="1322962"/>
            <a:ext cx="2509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Mista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7E69C-960B-99B5-6F36-046E1A70F9CD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617554-2A9F-D9B4-E355-C676C1E9D59B}"/>
                  </a:ext>
                </a:extLst>
              </p:cNvPr>
              <p:cNvSpPr txBox="1"/>
              <p:nvPr/>
            </p:nvSpPr>
            <p:spPr>
              <a:xfrm>
                <a:off x="1657733" y="2143550"/>
                <a:ext cx="9145772" cy="1453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3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3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3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𝐶𝑥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𝐸𝑥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617554-2A9F-D9B4-E355-C676C1E9D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733" y="2143550"/>
                <a:ext cx="9145772" cy="1453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9CC1D85-9D3D-4A15-8049-CB35102C7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12" y="3754120"/>
            <a:ext cx="9096375" cy="2743200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916606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09332-E257-348D-4F4A-42419142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1CB3AC-8DDC-38E7-0E12-028C217E19FB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Principais Algoritmos e Estruturas de Dados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68BA97-6109-5CFE-B375-53AE9C7D9B03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05723C-92E4-593F-C6DF-E9459328082C}"/>
              </a:ext>
            </a:extLst>
          </p:cNvPr>
          <p:cNvSpPr txBox="1"/>
          <p:nvPr/>
        </p:nvSpPr>
        <p:spPr>
          <a:xfrm>
            <a:off x="739302" y="1322962"/>
            <a:ext cx="7732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Identificação do Tipo da Fatoração do Denominador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0BAE58-5D81-F217-C291-5EFA3AC16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2634932"/>
            <a:ext cx="11077575" cy="4067175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0E425A-555F-5260-B241-72659E21D880}"/>
              </a:ext>
            </a:extLst>
          </p:cNvPr>
          <p:cNvSpPr txBox="1"/>
          <p:nvPr/>
        </p:nvSpPr>
        <p:spPr>
          <a:xfrm>
            <a:off x="883920" y="2055891"/>
            <a:ext cx="8905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Usuário escolhe o tipo da fatoração através de um Menu com uma estrutura de repetição.</a:t>
            </a:r>
          </a:p>
        </p:txBody>
      </p:sp>
    </p:spTree>
    <p:extLst>
      <p:ext uri="{BB962C8B-B14F-4D97-AF65-F5344CB8AC3E}">
        <p14:creationId xmlns:p14="http://schemas.microsoft.com/office/powerpoint/2010/main" val="354255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6ACA6-A324-F75B-D660-0D4FC28E0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2010F3-3B22-8133-4956-18A83BC9EF7D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Principais Algoritmos e Estruturas de Dados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7CC8A6-F84B-304C-1602-3DCC6203B267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D2B29E-B0DB-91E3-5F30-C3FB2B12E479}"/>
              </a:ext>
            </a:extLst>
          </p:cNvPr>
          <p:cNvSpPr txBox="1"/>
          <p:nvPr/>
        </p:nvSpPr>
        <p:spPr>
          <a:xfrm>
            <a:off x="739302" y="1322962"/>
            <a:ext cx="7732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Identificação do Tipo da Fatoração do Denominador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FB452-43C7-8E64-D2B6-37AAEF16C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712" y="2548255"/>
            <a:ext cx="6124575" cy="4238625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8BBF16-1D6D-01EC-0872-350DCC42E961}"/>
              </a:ext>
            </a:extLst>
          </p:cNvPr>
          <p:cNvSpPr txBox="1"/>
          <p:nvPr/>
        </p:nvSpPr>
        <p:spPr>
          <a:xfrm>
            <a:off x="883920" y="2055891"/>
            <a:ext cx="10264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Opção escolhida no Menu é redirecionada à outra função na Main através de uma estrutura condicional.</a:t>
            </a:r>
          </a:p>
        </p:txBody>
      </p:sp>
    </p:spTree>
    <p:extLst>
      <p:ext uri="{BB962C8B-B14F-4D97-AF65-F5344CB8AC3E}">
        <p14:creationId xmlns:p14="http://schemas.microsoft.com/office/powerpoint/2010/main" val="521770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130D6-6587-8878-BE3D-5A85C507B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8E8F80-17F6-CD38-256B-4507A75CF147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Principais Algoritmos e Estruturas de Dados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EA38E-672C-D43E-8680-E7CF01BD9415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979F37-E56A-D248-09A0-8A19212AE48A}"/>
              </a:ext>
            </a:extLst>
          </p:cNvPr>
          <p:cNvSpPr txBox="1"/>
          <p:nvPr/>
        </p:nvSpPr>
        <p:spPr>
          <a:xfrm>
            <a:off x="739302" y="1322962"/>
            <a:ext cx="5804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Aplicação da Decomposição Adequada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57EABE-1B07-D1CC-4C86-AC7D0F4BC495}"/>
              </a:ext>
            </a:extLst>
          </p:cNvPr>
          <p:cNvSpPr txBox="1"/>
          <p:nvPr/>
        </p:nvSpPr>
        <p:spPr>
          <a:xfrm>
            <a:off x="883920" y="2055891"/>
            <a:ext cx="644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Cálculo do Termo C e Termo D na fatoração Linear e Quadrática.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00ACEB-5E2A-519E-A9AB-889A801FF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825" y="2702455"/>
            <a:ext cx="6610350" cy="1543050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5D28D4-7E7C-CA4A-BDDB-6A1B470B86FC}"/>
              </a:ext>
            </a:extLst>
          </p:cNvPr>
          <p:cNvSpPr txBox="1"/>
          <p:nvPr/>
        </p:nvSpPr>
        <p:spPr>
          <a:xfrm>
            <a:off x="739302" y="4557738"/>
            <a:ext cx="6807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Cálculo do Termo C, Termo D, Termo E e Termo F na fatoração Mista.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765049-430A-D764-113D-CCD59D183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830" y="5310505"/>
            <a:ext cx="3895725" cy="971550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3810623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23DC-4F34-EB37-6D6F-9DFEE1E47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9BFE96-D5F2-FBE0-4192-7C70A5813BC7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Principais Algoritmos e Estruturas de Dados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8D81F-59B2-D905-C3DB-D9B9F51A670A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D3C7E-0D79-31AB-D26B-208A217BFB18}"/>
              </a:ext>
            </a:extLst>
          </p:cNvPr>
          <p:cNvSpPr txBox="1"/>
          <p:nvPr/>
        </p:nvSpPr>
        <p:spPr>
          <a:xfrm>
            <a:off x="739302" y="1322962"/>
            <a:ext cx="5804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Aplicação da Decomposição Adequada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AE644C-FF58-FBE0-C437-FBF8C680C69F}"/>
              </a:ext>
            </a:extLst>
          </p:cNvPr>
          <p:cNvSpPr txBox="1"/>
          <p:nvPr/>
        </p:nvSpPr>
        <p:spPr>
          <a:xfrm>
            <a:off x="883920" y="2055891"/>
            <a:ext cx="491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Aplicação de Bhaskara na fatoração Quadrática.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95CD40-07AC-D220-B318-119BB59EF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90" y="2915787"/>
            <a:ext cx="10040620" cy="2753073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1308350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48616-DD33-95C8-432C-B8CC1D78E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640ACA-CB90-A4EE-D528-D19F89DB4E75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Principais Algoritmos e Estruturas de Dados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12B5E6-D9D8-9F39-1D80-B879A3F678C7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30BED5-EB44-5FAB-A7D2-84BC0FFADB97}"/>
              </a:ext>
            </a:extLst>
          </p:cNvPr>
          <p:cNvSpPr txBox="1"/>
          <p:nvPr/>
        </p:nvSpPr>
        <p:spPr>
          <a:xfrm>
            <a:off x="739302" y="1322962"/>
            <a:ext cx="5804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Aplicação da Decomposição Adequada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03E8B2-2112-DE3B-2E14-7C68B64081D8}"/>
              </a:ext>
            </a:extLst>
          </p:cNvPr>
          <p:cNvSpPr txBox="1"/>
          <p:nvPr/>
        </p:nvSpPr>
        <p:spPr>
          <a:xfrm>
            <a:off x="883920" y="2055891"/>
            <a:ext cx="8006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Fórmula de Delta e Fórmula de Bhaskara para resolução da fatoração Quadrática.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6AAABD-7720-DFA8-87D9-9A38AE67E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877052"/>
            <a:ext cx="6705600" cy="3295650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38973749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C28DA-D49E-4A37-7EF9-EFD8C25C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16C9AA-52D8-C357-51F8-6A79BCDA7323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Principais Algoritmos e Estruturas de Dados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2DBD1-0410-8FC3-66BF-91D16730EB22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14A1EC-929F-1903-E67E-D38E21EAFB3D}"/>
              </a:ext>
            </a:extLst>
          </p:cNvPr>
          <p:cNvSpPr txBox="1"/>
          <p:nvPr/>
        </p:nvSpPr>
        <p:spPr>
          <a:xfrm>
            <a:off x="739302" y="1322962"/>
            <a:ext cx="5237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Integração dos Termos Resultantes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1867B6-EE9E-B3B3-5E3E-A038116397AA}"/>
              </a:ext>
            </a:extLst>
          </p:cNvPr>
          <p:cNvSpPr txBox="1"/>
          <p:nvPr/>
        </p:nvSpPr>
        <p:spPr>
          <a:xfrm>
            <a:off x="883920" y="2055891"/>
            <a:ext cx="894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Formatação dos termos a depender de serem positivos ou negativos ou integração para Ln.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3159B-65F9-8AD2-59F9-DBC648A84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195" y="2634932"/>
            <a:ext cx="4857005" cy="4033202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580333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5D8C4-8661-18CA-6C1A-1852789F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2A4D45-65CB-4DF7-7C37-7CB07AEEFAAA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Principais Algoritmos e Estruturas de Dados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E8B91E-AEC6-A2D3-77A2-BB5ED52FC922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8EBF19-055D-5C14-D92A-CC6C07169140}"/>
              </a:ext>
            </a:extLst>
          </p:cNvPr>
          <p:cNvSpPr txBox="1"/>
          <p:nvPr/>
        </p:nvSpPr>
        <p:spPr>
          <a:xfrm>
            <a:off x="739302" y="1322962"/>
            <a:ext cx="5237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Integração dos Termos Resultantes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3CD196-E134-47F5-0E7F-430BDBCC1C1A}"/>
              </a:ext>
            </a:extLst>
          </p:cNvPr>
          <p:cNvSpPr txBox="1"/>
          <p:nvPr/>
        </p:nvSpPr>
        <p:spPr>
          <a:xfrm>
            <a:off x="883920" y="2055891"/>
            <a:ext cx="4766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Conversão de números decimais para frações.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2F075-E347-504B-70F5-FAF840D74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663" y="2634932"/>
            <a:ext cx="8174673" cy="4126467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1078068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832EB-EFBC-48FF-9506-D26B67A91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984D2D-DB40-674C-987F-D4824F5B81BA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Principais Algoritmos e Estruturas de Dados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6B420-1B14-C4E5-F67D-98932F2834C1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8702B3-7CEA-6341-9A97-66F1F2474062}"/>
              </a:ext>
            </a:extLst>
          </p:cNvPr>
          <p:cNvSpPr txBox="1"/>
          <p:nvPr/>
        </p:nvSpPr>
        <p:spPr>
          <a:xfrm>
            <a:off x="739302" y="1322962"/>
            <a:ext cx="5237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Integração dos Termos Resultantes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C8A59-355F-910D-20EA-21FA902BB723}"/>
              </a:ext>
            </a:extLst>
          </p:cNvPr>
          <p:cNvSpPr txBox="1"/>
          <p:nvPr/>
        </p:nvSpPr>
        <p:spPr>
          <a:xfrm>
            <a:off x="883920" y="2055891"/>
            <a:ext cx="7760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Múltiplo Denomicador Comum (MDC) para conversão de decimal para fração.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C9A12-F360-B1D5-A87F-015A74EFD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00" y="2847975"/>
            <a:ext cx="4495800" cy="1162050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3737341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1489-E181-81D9-836B-F5139DE07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29749C-9C2C-4042-7D4C-AD1A137AFF3A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Principais Algoritmos e Estruturas de Dados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5CB183-F9C0-C2DC-3D65-410C9A1ACFAF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E6A4D6-7DBA-C7F6-46CB-47AD36E4F077}"/>
              </a:ext>
            </a:extLst>
          </p:cNvPr>
          <p:cNvSpPr txBox="1"/>
          <p:nvPr/>
        </p:nvSpPr>
        <p:spPr>
          <a:xfrm>
            <a:off x="739302" y="1322962"/>
            <a:ext cx="5237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Integração dos Termos Resultantes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0943A2-E6EF-12B5-EF7F-CA4A4595F0E5}"/>
              </a:ext>
            </a:extLst>
          </p:cNvPr>
          <p:cNvSpPr txBox="1"/>
          <p:nvPr/>
        </p:nvSpPr>
        <p:spPr>
          <a:xfrm>
            <a:off x="883920" y="2055891"/>
            <a:ext cx="462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Integração na fatoração Linear e Quadrática.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872CF6-0336-B048-3894-B194BE75C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37" y="2480153"/>
            <a:ext cx="8391525" cy="1952625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9483424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C036A-F6B5-DAEE-20DA-604473127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49C3B0-4CE5-5AC1-7432-8DB7BBDA74BD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Principais Algoritmos e Estruturas de Dados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420F03-DC2A-E87F-799A-B24569FC9C6A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CCCC5B-255C-287D-A5C4-38FA0B728066}"/>
              </a:ext>
            </a:extLst>
          </p:cNvPr>
          <p:cNvSpPr txBox="1"/>
          <p:nvPr/>
        </p:nvSpPr>
        <p:spPr>
          <a:xfrm>
            <a:off x="739302" y="1322962"/>
            <a:ext cx="5237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Integração dos Termos Resultantes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EEA801-71C5-2D5F-2FA6-B15AEA595EB9}"/>
              </a:ext>
            </a:extLst>
          </p:cNvPr>
          <p:cNvSpPr txBox="1"/>
          <p:nvPr/>
        </p:nvSpPr>
        <p:spPr>
          <a:xfrm>
            <a:off x="883920" y="2055891"/>
            <a:ext cx="3320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Integração na fatoração Mista.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BBEEE4-85F6-82A7-E430-995098CBA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691" y="2420114"/>
            <a:ext cx="7010014" cy="1954033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EDD7A9-0E79-8494-1DF2-CEE33D0F6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550" y="4524877"/>
            <a:ext cx="6604900" cy="2190285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3866510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3EF31-D290-A0A9-16FE-75A3A9E1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21CA94-BD6C-487B-14F0-456876A7DF82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Principais Algoritmos e Estruturas de Dados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EFF84-9DC5-4A59-116C-4E9FE7AB8FA1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F976D5-EBB4-8985-2BAF-34E2FCD5B14E}"/>
              </a:ext>
            </a:extLst>
          </p:cNvPr>
          <p:cNvSpPr txBox="1"/>
          <p:nvPr/>
        </p:nvSpPr>
        <p:spPr>
          <a:xfrm>
            <a:off x="739302" y="1322962"/>
            <a:ext cx="643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Apresentação do Resultado Simbólico Final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D0C73-367B-B02A-F919-E48124FB0519}"/>
              </a:ext>
            </a:extLst>
          </p:cNvPr>
          <p:cNvSpPr txBox="1"/>
          <p:nvPr/>
        </p:nvSpPr>
        <p:spPr>
          <a:xfrm>
            <a:off x="883920" y="2055891"/>
            <a:ext cx="4038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Variável global de símbolo de Integral.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00E56-371E-ABB1-CEE5-C9B4001D71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14"/>
          <a:stretch>
            <a:fillRect/>
          </a:stretch>
        </p:blipFill>
        <p:spPr>
          <a:xfrm>
            <a:off x="3438525" y="3337560"/>
            <a:ext cx="5314950" cy="224790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3544039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BA6E5-0CAD-5C4E-A0A3-86A665A88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C7A5D2-0897-F467-1283-C0C06C0D5CA1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Principais Algoritmos e Estruturas de Dados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76089-BA5A-E96D-3116-B0030FA579E4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EAF029-D0AA-920B-92E9-05A30998CBF6}"/>
              </a:ext>
            </a:extLst>
          </p:cNvPr>
          <p:cNvSpPr txBox="1"/>
          <p:nvPr/>
        </p:nvSpPr>
        <p:spPr>
          <a:xfrm>
            <a:off x="739302" y="1322962"/>
            <a:ext cx="643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Apresentação do Resultado Simbólico Final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23DE7-B606-FF9D-7D62-8795E085DCFE}"/>
              </a:ext>
            </a:extLst>
          </p:cNvPr>
          <p:cNvSpPr txBox="1"/>
          <p:nvPr/>
        </p:nvSpPr>
        <p:spPr>
          <a:xfrm>
            <a:off x="883920" y="2055891"/>
            <a:ext cx="7549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Impressão do resultado da fatoração Linear e Quadrática e suas integrações.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1A29D3-45F8-883E-26CB-E37E9C964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12" y="3197211"/>
            <a:ext cx="9858375" cy="1143000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3477013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211EB-3685-FCC4-7AA1-46541AB3A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B020CD-9B6D-9FE4-6F7C-080FBA4322D7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Principais Algoritmos e Estruturas de Dados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05E65-C6B9-9701-B082-4910B99F4CF4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C357D-A882-C733-9811-FE94EF62E514}"/>
              </a:ext>
            </a:extLst>
          </p:cNvPr>
          <p:cNvSpPr txBox="1"/>
          <p:nvPr/>
        </p:nvSpPr>
        <p:spPr>
          <a:xfrm>
            <a:off x="739302" y="1322962"/>
            <a:ext cx="643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Apresentação do Resultado Simbólico Final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5A1ED7-5FB5-704C-836A-C2EA87E78754}"/>
              </a:ext>
            </a:extLst>
          </p:cNvPr>
          <p:cNvSpPr txBox="1"/>
          <p:nvPr/>
        </p:nvSpPr>
        <p:spPr>
          <a:xfrm>
            <a:off x="883920" y="2055891"/>
            <a:ext cx="6241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Impressão do resultado da fatoração Mista e suas integrações.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6C152-0420-B6BE-558E-3CD9A4F9E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75" y="2537009"/>
            <a:ext cx="8172450" cy="2676525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0B5430-580B-2985-A85E-99A7CDD3D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5641471"/>
            <a:ext cx="5429250" cy="247650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</p:spTree>
    <p:extLst>
      <p:ext uri="{BB962C8B-B14F-4D97-AF65-F5344CB8AC3E}">
        <p14:creationId xmlns:p14="http://schemas.microsoft.com/office/powerpoint/2010/main" val="740919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92ABF-73AB-3E4B-4F22-E28736D85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6D6387-22EA-5B4D-8488-5BE45A619455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Resultados das Integrais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345FBB-07AD-0903-DBF8-4AEFD5807686}"/>
              </a:ext>
            </a:extLst>
          </p:cNvPr>
          <p:cNvSpPr txBox="1"/>
          <p:nvPr/>
        </p:nvSpPr>
        <p:spPr>
          <a:xfrm>
            <a:off x="8337037" y="44615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1625C6-3677-78A5-F2D0-0EFBB3B6605F}"/>
              </a:ext>
            </a:extLst>
          </p:cNvPr>
          <p:cNvSpPr txBox="1"/>
          <p:nvPr/>
        </p:nvSpPr>
        <p:spPr>
          <a:xfrm>
            <a:off x="739302" y="1322962"/>
            <a:ext cx="2591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Linear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0D748A-F6E5-5370-4763-FCB300F9E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612" y="1911951"/>
            <a:ext cx="6051023" cy="4487187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0D96DC-BCE1-C76C-BB99-BEB40B44287B}"/>
              </a:ext>
            </a:extLst>
          </p:cNvPr>
          <p:cNvSpPr txBox="1"/>
          <p:nvPr/>
        </p:nvSpPr>
        <p:spPr>
          <a:xfrm>
            <a:off x="8521768" y="4553868"/>
            <a:ext cx="22774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Resolução da Oficina de Cálculo II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C7A5233-879F-B054-83BB-D411D2584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498" y="1911951"/>
            <a:ext cx="4193957" cy="2641917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193578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27C83-0C74-FB5D-9CEE-52AD314F9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612E63-9863-CF0B-C2AA-DCA53B7E8B35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Resultados das Integrais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A6033-2928-E587-988E-74B6869C8287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B3F9BA-ABE6-91B5-0AE3-DC257ED1E684}"/>
              </a:ext>
            </a:extLst>
          </p:cNvPr>
          <p:cNvSpPr txBox="1"/>
          <p:nvPr/>
        </p:nvSpPr>
        <p:spPr>
          <a:xfrm>
            <a:off x="739302" y="1322962"/>
            <a:ext cx="3295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Quadrática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84F59B-25BC-340F-3180-463E7030C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25" y="1905572"/>
            <a:ext cx="5505275" cy="4493566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12A40E-5D5F-2D47-B016-7567648C8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530" y="1905572"/>
            <a:ext cx="5248910" cy="3691119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E38736-437B-6C94-DAE0-DBE4766C07E8}"/>
              </a:ext>
            </a:extLst>
          </p:cNvPr>
          <p:cNvSpPr txBox="1"/>
          <p:nvPr/>
        </p:nvSpPr>
        <p:spPr>
          <a:xfrm>
            <a:off x="8266276" y="5596691"/>
            <a:ext cx="22774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Resolução da Oficina de Cálculo II</a:t>
            </a:r>
          </a:p>
        </p:txBody>
      </p:sp>
    </p:spTree>
    <p:extLst>
      <p:ext uri="{BB962C8B-B14F-4D97-AF65-F5344CB8AC3E}">
        <p14:creationId xmlns:p14="http://schemas.microsoft.com/office/powerpoint/2010/main" val="239152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E921E-FDED-5BDF-88A6-1AB1997E9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F91293-A7B3-5AA2-6EEA-87A4A6415F58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Resultados das Integrais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D87718-2352-F8DF-F729-D224366ED19E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9F5B0A-FAAA-42D7-AC47-0C70BFEFD43B}"/>
              </a:ext>
            </a:extLst>
          </p:cNvPr>
          <p:cNvSpPr txBox="1"/>
          <p:nvPr/>
        </p:nvSpPr>
        <p:spPr>
          <a:xfrm>
            <a:off x="739302" y="1322962"/>
            <a:ext cx="2509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Fatoração Mista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9B6376-7489-4DD8-142F-943744542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50" y="1908762"/>
            <a:ext cx="6140586" cy="4493566"/>
          </a:xfrm>
          <a:prstGeom prst="rect">
            <a:avLst/>
          </a:prstGeom>
          <a:ln w="38100">
            <a:solidFill>
              <a:srgbClr val="D5610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CE5C65-85AE-DE71-F07A-4D1C8BC9A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85" y="1908762"/>
            <a:ext cx="4446264" cy="2944238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2669C8-D399-DBC3-234B-272CF086823C}"/>
              </a:ext>
            </a:extLst>
          </p:cNvPr>
          <p:cNvSpPr txBox="1"/>
          <p:nvPr/>
        </p:nvSpPr>
        <p:spPr>
          <a:xfrm>
            <a:off x="8511608" y="4878562"/>
            <a:ext cx="22774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Resolução da Oficina de Cálculo II</a:t>
            </a:r>
          </a:p>
        </p:txBody>
      </p:sp>
    </p:spTree>
    <p:extLst>
      <p:ext uri="{BB962C8B-B14F-4D97-AF65-F5344CB8AC3E}">
        <p14:creationId xmlns:p14="http://schemas.microsoft.com/office/powerpoint/2010/main" val="24724084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DDCD4-9F65-C0DC-7FA1-6B408C5E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D020BD-6166-887F-226C-075EAB01425A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Possíveis Limitações e Melhorias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91033A-67FE-1B68-119C-7423FE9A6D75}"/>
              </a:ext>
            </a:extLst>
          </p:cNvPr>
          <p:cNvSpPr txBox="1"/>
          <p:nvPr/>
        </p:nvSpPr>
        <p:spPr>
          <a:xfrm>
            <a:off x="8326877" y="4155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7F5BB8-1EB7-F4EA-9EDE-B435EF41F16D}"/>
              </a:ext>
            </a:extLst>
          </p:cNvPr>
          <p:cNvSpPr txBox="1"/>
          <p:nvPr/>
        </p:nvSpPr>
        <p:spPr>
          <a:xfrm>
            <a:off x="739302" y="1322962"/>
            <a:ext cx="258981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dirty="0"/>
              <a:t>Interface Gráfica</a:t>
            </a:r>
          </a:p>
          <a:p>
            <a:pPr algn="ctr"/>
            <a:r>
              <a:rPr lang="pt-BR" sz="2800" dirty="0"/>
              <a:t>(Front-End)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881340-B1E3-0332-0CF3-57C3A721DBB0}"/>
              </a:ext>
            </a:extLst>
          </p:cNvPr>
          <p:cNvSpPr txBox="1"/>
          <p:nvPr/>
        </p:nvSpPr>
        <p:spPr>
          <a:xfrm>
            <a:off x="4986240" y="1322962"/>
            <a:ext cx="22195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dirty="0"/>
              <a:t>Exibição</a:t>
            </a:r>
          </a:p>
          <a:p>
            <a:pPr algn="ctr"/>
            <a:r>
              <a:rPr lang="pt-BR" sz="2800" dirty="0"/>
              <a:t>Passo-a-Passo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DAED9-6DCB-C685-0EB3-320F1DBA6CB6}"/>
              </a:ext>
            </a:extLst>
          </p:cNvPr>
          <p:cNvSpPr txBox="1"/>
          <p:nvPr/>
        </p:nvSpPr>
        <p:spPr>
          <a:xfrm>
            <a:off x="8967497" y="1322961"/>
            <a:ext cx="201029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dirty="0"/>
              <a:t>Formatação</a:t>
            </a:r>
          </a:p>
          <a:p>
            <a:pPr algn="ctr"/>
            <a:r>
              <a:rPr lang="pt-BR" sz="2800" dirty="0"/>
              <a:t>de Equações</a:t>
            </a:r>
          </a:p>
        </p:txBody>
      </p:sp>
      <p:pic>
        <p:nvPicPr>
          <p:cNvPr id="1026" name="Picture 2" descr="Ícones, Logotipos, Símbolos de Front end – Baixe gratuitamente em PNG, SVG">
            <a:extLst>
              <a:ext uri="{FF2B5EF4-FFF2-40B4-BE49-F238E27FC236}">
                <a16:creationId xmlns:a16="http://schemas.microsoft.com/office/drawing/2014/main" id="{F5BEBD80-B338-D43F-40DF-6A42D606C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645" y="262667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eps - Free business and finance icons">
            <a:extLst>
              <a:ext uri="{FF2B5EF4-FFF2-40B4-BE49-F238E27FC236}">
                <a16:creationId xmlns:a16="http://schemas.microsoft.com/office/drawing/2014/main" id="{AA0222C1-4B97-1A9A-ECFC-BE8E129C4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437" y="2611438"/>
            <a:ext cx="2143124" cy="214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81659F-FC6B-62D8-2999-9CD9265DACBA}"/>
                  </a:ext>
                </a:extLst>
              </p:cNvPr>
              <p:cNvSpPr txBox="1"/>
              <p:nvPr/>
            </p:nvSpPr>
            <p:spPr>
              <a:xfrm>
                <a:off x="8907769" y="2850999"/>
                <a:ext cx="2129750" cy="1937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pt-BR" sz="4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pt-BR" sz="4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/>
                            <m:den/>
                          </m:f>
                          <m:r>
                            <a:rPr lang="pt-BR" sz="480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pt-BR" sz="4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pt-BR" sz="4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81659F-FC6B-62D8-2999-9CD9265DA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769" y="2850999"/>
                <a:ext cx="2129750" cy="19373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4118474-25F5-9EB4-CE96-910FC1E6F545}"/>
              </a:ext>
            </a:extLst>
          </p:cNvPr>
          <p:cNvSpPr txBox="1"/>
          <p:nvPr/>
        </p:nvSpPr>
        <p:spPr>
          <a:xfrm>
            <a:off x="620778" y="5073373"/>
            <a:ext cx="2826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Interface web que permite melhor interação ao usuário com acesso pelo navegador.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75A227-1BCA-DF5D-121E-8FC2BBDAC4E5}"/>
              </a:ext>
            </a:extLst>
          </p:cNvPr>
          <p:cNvSpPr txBox="1"/>
          <p:nvPr/>
        </p:nvSpPr>
        <p:spPr>
          <a:xfrm>
            <a:off x="4682570" y="5073373"/>
            <a:ext cx="2826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Impressão da resolução passo-a-passo e explicações de todo o cálculo.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7FE7A-E36E-1467-D4EF-7F298E14B385}"/>
              </a:ext>
            </a:extLst>
          </p:cNvPr>
          <p:cNvSpPr txBox="1"/>
          <p:nvPr/>
        </p:nvSpPr>
        <p:spPr>
          <a:xfrm>
            <a:off x="8559215" y="5073373"/>
            <a:ext cx="2826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Preenchimento das equações com formatação inteligente.</a:t>
            </a:r>
          </a:p>
        </p:txBody>
      </p:sp>
    </p:spTree>
    <p:extLst>
      <p:ext uri="{BB962C8B-B14F-4D97-AF65-F5344CB8AC3E}">
        <p14:creationId xmlns:p14="http://schemas.microsoft.com/office/powerpoint/2010/main" val="3040438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054B-6E96-C6E3-9DC0-5076DECA8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6FEB4F-1895-7A5C-89D1-C602BB63B1DD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Repositório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D14A88-3826-13B8-8C6E-42C765E5B375}"/>
              </a:ext>
            </a:extLst>
          </p:cNvPr>
          <p:cNvSpPr txBox="1"/>
          <p:nvPr/>
        </p:nvSpPr>
        <p:spPr>
          <a:xfrm>
            <a:off x="739302" y="1322962"/>
            <a:ext cx="60685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Link Externo para Repositório do Projeto</a:t>
            </a:r>
          </a:p>
        </p:txBody>
      </p:sp>
      <p:sp>
        <p:nvSpPr>
          <p:cNvPr id="13" name="TextBox 12">
            <a:hlinkClick r:id="rId2"/>
            <a:extLst>
              <a:ext uri="{FF2B5EF4-FFF2-40B4-BE49-F238E27FC236}">
                <a16:creationId xmlns:a16="http://schemas.microsoft.com/office/drawing/2014/main" id="{2BF05757-DBE6-24F5-A82B-F15665BC5EE1}"/>
              </a:ext>
            </a:extLst>
          </p:cNvPr>
          <p:cNvSpPr txBox="1"/>
          <p:nvPr/>
        </p:nvSpPr>
        <p:spPr>
          <a:xfrm>
            <a:off x="1300264" y="2346960"/>
            <a:ext cx="4406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u="sng" dirty="0"/>
              <a:t>https://github.com/marcosware/tp-frac-par</a:t>
            </a:r>
          </a:p>
        </p:txBody>
      </p:sp>
      <p:pic>
        <p:nvPicPr>
          <p:cNvPr id="2050" name="Picture 2" descr="External link symbol - Free interface icons">
            <a:extLst>
              <a:ext uri="{FF2B5EF4-FFF2-40B4-BE49-F238E27FC236}">
                <a16:creationId xmlns:a16="http://schemas.microsoft.com/office/drawing/2014/main" id="{740F8E4F-BBF5-672A-0CAD-E9A118954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923" y="2433518"/>
            <a:ext cx="196215" cy="19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itHub Logos and Usage · GitHub">
            <a:extLst>
              <a:ext uri="{FF2B5EF4-FFF2-40B4-BE49-F238E27FC236}">
                <a16:creationId xmlns:a16="http://schemas.microsoft.com/office/drawing/2014/main" id="{0922DB77-1D5D-E9A7-DBAD-CA1FD5531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02" y="2251145"/>
            <a:ext cx="560962" cy="56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8690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D2F10-D6FF-BD91-8591-0966EB80F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5E8710-1BCC-4AC3-C5C7-4586BAF4E2E1}"/>
              </a:ext>
            </a:extLst>
          </p:cNvPr>
          <p:cNvSpPr/>
          <p:nvPr/>
        </p:nvSpPr>
        <p:spPr>
          <a:xfrm>
            <a:off x="-87549" y="-68094"/>
            <a:ext cx="12373583" cy="8171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8100">
            <a:solidFill>
              <a:srgbClr val="D561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pt-BR" sz="2800" dirty="0"/>
              <a:t>Finalização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02B197-1C21-6694-C33C-354574C62A1B}"/>
              </a:ext>
            </a:extLst>
          </p:cNvPr>
          <p:cNvSpPr txBox="1"/>
          <p:nvPr/>
        </p:nvSpPr>
        <p:spPr>
          <a:xfrm>
            <a:off x="1379132" y="1137769"/>
            <a:ext cx="94337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dirty="0"/>
              <a:t>Agradecemos a atenção!</a:t>
            </a:r>
          </a:p>
        </p:txBody>
      </p:sp>
      <p:pic>
        <p:nvPicPr>
          <p:cNvPr id="2054" name="Picture 6" descr="3,500+ Wave Goodbye Stock Illustrations, Royalty-Free Vector Graphics &amp;  Clip Art - iStock | Wave goodbye man, Wave goodbye child, Wave goodbye work">
            <a:extLst>
              <a:ext uri="{FF2B5EF4-FFF2-40B4-BE49-F238E27FC236}">
                <a16:creationId xmlns:a16="http://schemas.microsoft.com/office/drawing/2014/main" id="{02D92D4B-873B-290F-B55E-3F6E5D1BD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165" y="2338098"/>
            <a:ext cx="5829300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678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523</Words>
  <Application>Microsoft Office PowerPoint</Application>
  <PresentationFormat>Widescreen</PresentationFormat>
  <Paragraphs>128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</dc:creator>
  <cp:lastModifiedBy>Marcos</cp:lastModifiedBy>
  <cp:revision>4</cp:revision>
  <dcterms:created xsi:type="dcterms:W3CDTF">2025-11-15T22:01:00Z</dcterms:created>
  <dcterms:modified xsi:type="dcterms:W3CDTF">2025-11-16T02:14:19Z</dcterms:modified>
</cp:coreProperties>
</file>